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1916ac91-c3c9-b30d-341e-c07eb6f1ab5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architecture. Synthetic EHR and wearable streams are ingested, turned into causal features and a 6-hour sequence, fused by the deep model (LightGBM as a baseline), explained, and held in a per-patient digital twin with a personalised simulator and what-if engine. The doctor dashboard and the patient PWA are role-based clients of the same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5-minute real-time loop shared by both apps. Right: the patient-interface lifecycle state machine with the actor for each transition.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SYNTHETIC DATA ONLY: NOT FOR CLINICAL USE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SYNTHETIC DATA ONLY: NOT FOR CLINICAL 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SYNTHETIC DATA ONLY: NOT FOR CLINICAL USE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End-to-end architecture: data → fusion → twin → apps</a:t>
            </a:r>
            <a:endParaRPr lang="en-US" sz="2800" dirty="0"/>
          </a:p>
        </p:txBody>
      </p:sp>
      <p:sp>
        <p:nvSpPr>
          <p:cNvPr id="3" name="l1-lane"/>
          <p:cNvSpPr/>
          <p:nvPr/>
        </p:nvSpPr>
        <p:spPr>
          <a:xfrm>
            <a:off x="457200" y="1234440"/>
            <a:ext cx="2148840" cy="46634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1-label"/>
          <p:cNvSpPr txBox="1"/>
          <p:nvPr/>
        </p:nvSpPr>
        <p:spPr>
          <a:xfrm>
            <a:off x="45720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· Synthetic data</a:t>
            </a:r>
            <a:endParaRPr lang="en-US" sz="1300" dirty="0"/>
          </a:p>
        </p:txBody>
      </p:sp>
      <p:sp>
        <p:nvSpPr>
          <p:cNvPr id="5" name="l2-lane"/>
          <p:cNvSpPr/>
          <p:nvPr/>
        </p:nvSpPr>
        <p:spPr>
          <a:xfrm>
            <a:off x="2743200" y="1234440"/>
            <a:ext cx="2148840" cy="46634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2-label"/>
          <p:cNvSpPr txBox="1"/>
          <p:nvPr/>
        </p:nvSpPr>
        <p:spPr>
          <a:xfrm>
            <a:off x="274320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· Ingestion + features</a:t>
            </a:r>
            <a:endParaRPr lang="en-US" sz="1300" dirty="0"/>
          </a:p>
        </p:txBody>
      </p:sp>
      <p:sp>
        <p:nvSpPr>
          <p:cNvPr id="7" name="l3-lane"/>
          <p:cNvSpPr/>
          <p:nvPr/>
        </p:nvSpPr>
        <p:spPr>
          <a:xfrm>
            <a:off x="5029200" y="1234440"/>
            <a:ext cx="2148840" cy="46634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3-label"/>
          <p:cNvSpPr txBox="1"/>
          <p:nvPr/>
        </p:nvSpPr>
        <p:spPr>
          <a:xfrm>
            <a:off x="502920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· Models</a:t>
            </a:r>
            <a:endParaRPr lang="en-US" sz="1300" dirty="0"/>
          </a:p>
        </p:txBody>
      </p:sp>
      <p:sp>
        <p:nvSpPr>
          <p:cNvPr id="9" name="l4-lane"/>
          <p:cNvSpPr/>
          <p:nvPr/>
        </p:nvSpPr>
        <p:spPr>
          <a:xfrm>
            <a:off x="7315200" y="1234440"/>
            <a:ext cx="2148840" cy="46634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4-label"/>
          <p:cNvSpPr txBox="1"/>
          <p:nvPr/>
        </p:nvSpPr>
        <p:spPr>
          <a:xfrm>
            <a:off x="731520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· Digital Twin</a:t>
            </a:r>
            <a:endParaRPr lang="en-US" sz="1300" dirty="0"/>
          </a:p>
        </p:txBody>
      </p:sp>
      <p:sp>
        <p:nvSpPr>
          <p:cNvPr id="11" name="l5-lane"/>
          <p:cNvSpPr/>
          <p:nvPr/>
        </p:nvSpPr>
        <p:spPr>
          <a:xfrm>
            <a:off x="9601200" y="1234440"/>
            <a:ext cx="2148840" cy="46634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5-label"/>
          <p:cNvSpPr txBox="1"/>
          <p:nvPr/>
        </p:nvSpPr>
        <p:spPr>
          <a:xfrm>
            <a:off x="9601200" y="1280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· Clients</a:t>
            </a:r>
            <a:endParaRPr lang="en-US" sz="1300" dirty="0"/>
          </a:p>
        </p:txBody>
      </p:sp>
      <p:sp>
        <p:nvSpPr>
          <p:cNvPr id="13" name="e1-box"/>
          <p:cNvSpPr/>
          <p:nvPr/>
        </p:nvSpPr>
        <p:spPr>
          <a:xfrm>
            <a:off x="566928" y="178308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e1-text"/>
          <p:cNvSpPr txBox="1"/>
          <p:nvPr/>
        </p:nvSpPr>
        <p:spPr>
          <a:xfrm>
            <a:off x="64008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EHR generator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(Indian T2D, FHIR export)</a:t>
            </a:r>
            <a:endParaRPr lang="en-US" sz="1100" dirty="0"/>
          </a:p>
        </p:txBody>
      </p:sp>
      <p:sp>
        <p:nvSpPr>
          <p:cNvPr id="15" name="e2-box"/>
          <p:cNvSpPr/>
          <p:nvPr/>
        </p:nvSpPr>
        <p:spPr>
          <a:xfrm>
            <a:off x="566928" y="278892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2-text"/>
          <p:cNvSpPr txBox="1"/>
          <p:nvPr/>
        </p:nvSpPr>
        <p:spPr>
          <a:xfrm>
            <a:off x="640080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World simulator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Bergman model + lifestyle</a:t>
            </a:r>
            <a:endParaRPr lang="en-US" sz="1100" dirty="0"/>
          </a:p>
        </p:txBody>
      </p:sp>
      <p:sp>
        <p:nvSpPr>
          <p:cNvPr id="17" name="e3-box"/>
          <p:cNvSpPr/>
          <p:nvPr/>
        </p:nvSpPr>
        <p:spPr>
          <a:xfrm>
            <a:off x="566928" y="379476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3-text"/>
          <p:cNvSpPr txBox="1"/>
          <p:nvPr/>
        </p:nvSpPr>
        <p:spPr>
          <a:xfrm>
            <a:off x="64008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Sensor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CGM, HR, HRV, sleep, steps</a:t>
            </a:r>
            <a:endParaRPr lang="en-US" sz="1100" dirty="0"/>
          </a:p>
        </p:txBody>
      </p:sp>
      <p:sp>
        <p:nvSpPr>
          <p:cNvPr id="19" name="e4-box"/>
          <p:cNvSpPr/>
          <p:nvPr/>
        </p:nvSpPr>
        <p:spPr>
          <a:xfrm>
            <a:off x="566928" y="480060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e4-text"/>
          <p:cNvSpPr txBox="1"/>
          <p:nvPr/>
        </p:nvSpPr>
        <p:spPr>
          <a:xfrm>
            <a:off x="640080" y="4800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Demo injections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meal, missed dose, dropout</a:t>
            </a:r>
            <a:endParaRPr lang="en-US" sz="1100" dirty="0"/>
          </a:p>
        </p:txBody>
      </p:sp>
      <p:sp>
        <p:nvSpPr>
          <p:cNvPr id="21" name="i1-box"/>
          <p:cNvSpPr/>
          <p:nvPr/>
        </p:nvSpPr>
        <p:spPr>
          <a:xfrm>
            <a:off x="2852928" y="178308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i1-text"/>
          <p:cNvSpPr txBox="1"/>
          <p:nvPr/>
        </p:nvSpPr>
        <p:spPr>
          <a:xfrm>
            <a:off x="292608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Ingestion API / in-process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consent + minimisation</a:t>
            </a:r>
            <a:endParaRPr lang="en-US" sz="1100" dirty="0"/>
          </a:p>
        </p:txBody>
      </p:sp>
      <p:sp>
        <p:nvSpPr>
          <p:cNvPr id="23" name="i2-box"/>
          <p:cNvSpPr/>
          <p:nvPr/>
        </p:nvSpPr>
        <p:spPr>
          <a:xfrm>
            <a:off x="2852928" y="278892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i2-text"/>
          <p:cNvSpPr txBox="1"/>
          <p:nvPr/>
        </p:nvSpPr>
        <p:spPr>
          <a:xfrm>
            <a:off x="2926080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Causal features (118)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 imputation + quality</a:t>
            </a:r>
            <a:endParaRPr lang="en-US" sz="1100" dirty="0"/>
          </a:p>
        </p:txBody>
      </p:sp>
      <p:sp>
        <p:nvSpPr>
          <p:cNvPr id="25" name="i3-box"/>
          <p:cNvSpPr/>
          <p:nvPr/>
        </p:nvSpPr>
        <p:spPr>
          <a:xfrm>
            <a:off x="2852928" y="379476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i3-text"/>
          <p:cNvSpPr txBox="1"/>
          <p:nvPr/>
        </p:nvSpPr>
        <p:spPr>
          <a:xfrm>
            <a:off x="292608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 h × 17-channel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sequence window</a:t>
            </a:r>
            <a:endParaRPr lang="en-US" sz="1100" dirty="0"/>
          </a:p>
        </p:txBody>
      </p:sp>
      <p:sp>
        <p:nvSpPr>
          <p:cNvPr id="27" name="i4-box"/>
          <p:cNvSpPr/>
          <p:nvPr/>
        </p:nvSpPr>
        <p:spPr>
          <a:xfrm>
            <a:off x="2852928" y="480060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i4-text"/>
          <p:cNvSpPr txBox="1"/>
          <p:nvPr/>
        </p:nvSpPr>
        <p:spPr>
          <a:xfrm>
            <a:off x="2926080" y="4800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SQLite: audit, consent,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invites, logs</a:t>
            </a:r>
            <a:endParaRPr lang="en-US" sz="1100" dirty="0"/>
          </a:p>
        </p:txBody>
      </p:sp>
      <p:sp>
        <p:nvSpPr>
          <p:cNvPr id="29" name="m1-box"/>
          <p:cNvSpPr/>
          <p:nvPr/>
        </p:nvSpPr>
        <p:spPr>
          <a:xfrm>
            <a:off x="5138928" y="178308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m1-text"/>
          <p:cNvSpPr txBox="1"/>
          <p:nvPr/>
        </p:nvSpPr>
        <p:spPr>
          <a:xfrm>
            <a:off x="521208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Deep fusion (PyTorch)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GRU + EHR cross-attn</a:t>
            </a:r>
            <a:endParaRPr lang="en-US" sz="1100" dirty="0"/>
          </a:p>
        </p:txBody>
      </p:sp>
      <p:sp>
        <p:nvSpPr>
          <p:cNvPr id="31" name="m2-box"/>
          <p:cNvSpPr/>
          <p:nvPr/>
        </p:nvSpPr>
        <p:spPr>
          <a:xfrm>
            <a:off x="5138928" y="278892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m2-text"/>
          <p:cNvSpPr txBox="1"/>
          <p:nvPr/>
        </p:nvSpPr>
        <p:spPr>
          <a:xfrm>
            <a:off x="5212080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LightGBM 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 isotonic calibration</a:t>
            </a:r>
            <a:endParaRPr lang="en-US" sz="1100" dirty="0"/>
          </a:p>
        </p:txBody>
      </p:sp>
      <p:sp>
        <p:nvSpPr>
          <p:cNvPr id="33" name="m3-box"/>
          <p:cNvSpPr/>
          <p:nvPr/>
        </p:nvSpPr>
        <p:spPr>
          <a:xfrm>
            <a:off x="5138928" y="379476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m3-text"/>
          <p:cNvSpPr txBox="1"/>
          <p:nvPr/>
        </p:nvSpPr>
        <p:spPr>
          <a:xfrm>
            <a:off x="521208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Explainability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IG / TreeSHAP → factors</a:t>
            </a:r>
            <a:endParaRPr lang="en-US" sz="1100" dirty="0"/>
          </a:p>
        </p:txBody>
      </p:sp>
      <p:sp>
        <p:nvSpPr>
          <p:cNvPr id="35" name="m4-box"/>
          <p:cNvSpPr/>
          <p:nvPr/>
        </p:nvSpPr>
        <p:spPr>
          <a:xfrm>
            <a:off x="5138928" y="480060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m4-text"/>
          <p:cNvSpPr txBox="1"/>
          <p:nvPr/>
        </p:nvSpPr>
        <p:spPr>
          <a:xfrm>
            <a:off x="5212080" y="4800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Evaluation + reports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ablation, fairness</a:t>
            </a:r>
            <a:endParaRPr lang="en-US" sz="1100" dirty="0"/>
          </a:p>
        </p:txBody>
      </p:sp>
      <p:sp>
        <p:nvSpPr>
          <p:cNvPr id="37" name="t1-box"/>
          <p:cNvSpPr/>
          <p:nvPr/>
        </p:nvSpPr>
        <p:spPr>
          <a:xfrm>
            <a:off x="7424928" y="178308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1-text"/>
          <p:cNvSpPr txBox="1"/>
          <p:nvPr/>
        </p:nvSpPr>
        <p:spPr>
          <a:xfrm>
            <a:off x="7498080" y="1783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Twin 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50 h buffer, 14 d CGM</a:t>
            </a:r>
            <a:endParaRPr lang="en-US" sz="1100" dirty="0"/>
          </a:p>
        </p:txBody>
      </p:sp>
      <p:sp>
        <p:nvSpPr>
          <p:cNvPr id="39" name="t2-box"/>
          <p:cNvSpPr/>
          <p:nvPr/>
        </p:nvSpPr>
        <p:spPr>
          <a:xfrm>
            <a:off x="7424928" y="278892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2-text"/>
          <p:cNvSpPr txBox="1"/>
          <p:nvPr/>
        </p:nvSpPr>
        <p:spPr>
          <a:xfrm>
            <a:off x="7498080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Personalised simulator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observer + calibration</a:t>
            </a:r>
            <a:endParaRPr lang="en-US" sz="1100" dirty="0"/>
          </a:p>
        </p:txBody>
      </p:sp>
      <p:sp>
        <p:nvSpPr>
          <p:cNvPr id="41" name="t3-box"/>
          <p:cNvSpPr/>
          <p:nvPr/>
        </p:nvSpPr>
        <p:spPr>
          <a:xfrm>
            <a:off x="7424928" y="379476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3-text"/>
          <p:cNvSpPr txBox="1"/>
          <p:nvPr/>
        </p:nvSpPr>
        <p:spPr>
          <a:xfrm>
            <a:off x="7498080" y="3794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What-if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parallel roll-outs</a:t>
            </a:r>
            <a:endParaRPr lang="en-US" sz="1100" dirty="0"/>
          </a:p>
        </p:txBody>
      </p:sp>
      <p:sp>
        <p:nvSpPr>
          <p:cNvPr id="43" name="t4-box"/>
          <p:cNvSpPr/>
          <p:nvPr/>
        </p:nvSpPr>
        <p:spPr>
          <a:xfrm>
            <a:off x="7424928" y="480060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4-text"/>
          <p:cNvSpPr txBox="1"/>
          <p:nvPr/>
        </p:nvSpPr>
        <p:spPr>
          <a:xfrm>
            <a:off x="7498080" y="4800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Portal 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lifecycle, alerts, i18n</a:t>
            </a:r>
            <a:endParaRPr lang="en-US" sz="1100" dirty="0"/>
          </a:p>
        </p:txBody>
      </p:sp>
      <p:sp>
        <p:nvSpPr>
          <p:cNvPr id="45" name="c1-box"/>
          <p:cNvSpPr/>
          <p:nvPr/>
        </p:nvSpPr>
        <p:spPr>
          <a:xfrm>
            <a:off x="9710928" y="1783080"/>
            <a:ext cx="1929384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c1-text"/>
          <p:cNvSpPr txBox="1"/>
          <p:nvPr/>
        </p:nvSpPr>
        <p:spPr>
          <a:xfrm>
            <a:off x="9784080" y="17830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Doctor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React + WebSocket</a:t>
            </a:r>
            <a:endParaRPr lang="en-US" sz="1100" dirty="0"/>
          </a:p>
        </p:txBody>
      </p:sp>
      <p:sp>
        <p:nvSpPr>
          <p:cNvPr id="47" name="c2-box"/>
          <p:cNvSpPr/>
          <p:nvPr/>
        </p:nvSpPr>
        <p:spPr>
          <a:xfrm>
            <a:off x="9710928" y="3291840"/>
            <a:ext cx="1929384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8" name="c2-text"/>
          <p:cNvSpPr txBox="1"/>
          <p:nvPr/>
        </p:nvSpPr>
        <p:spPr>
          <a:xfrm>
            <a:off x="9784080" y="32918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Patient PWA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 / HI / TA</a:t>
            </a:r>
            <a:endParaRPr lang="en-US" sz="1100" dirty="0"/>
          </a:p>
        </p:txBody>
      </p:sp>
      <p:sp>
        <p:nvSpPr>
          <p:cNvPr id="49" name="c3-box"/>
          <p:cNvSpPr/>
          <p:nvPr/>
        </p:nvSpPr>
        <p:spPr>
          <a:xfrm>
            <a:off x="9710928" y="4800600"/>
            <a:ext cx="1929384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0" name="c3-text"/>
          <p:cNvSpPr txBox="1"/>
          <p:nvPr/>
        </p:nvSpPr>
        <p:spPr>
          <a:xfrm>
            <a:off x="9784080" y="48006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Caregiver 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(read-only, opt-in)</a:t>
            </a:r>
            <a:endParaRPr lang="en-US" sz="1100" dirty="0"/>
          </a:p>
        </p:txBody>
      </p:sp>
      <p:sp>
        <p:nvSpPr>
          <p:cNvPr id="51" name="flow-note"/>
          <p:cNvSpPr txBox="1"/>
          <p:nvPr/>
        </p:nvSpPr>
        <p:spPr>
          <a:xfrm>
            <a:off x="4572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Data flows left to right (1 → 5) every 5 minutes. The doctor dashboard, patient PWA and caregiver view are role-based clients of the same twin.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Real-time loop and doctor-initiated patient provisioning</a:t>
            </a:r>
            <a:endParaRPr lang="en-US" sz="2800" dirty="0"/>
          </a:p>
        </p:txBody>
      </p:sp>
      <p:sp>
        <p:nvSpPr>
          <p:cNvPr id="3" name="lp0-box"/>
          <p:cNvSpPr/>
          <p:nvPr/>
        </p:nvSpPr>
        <p:spPr>
          <a:xfrm>
            <a:off x="548640" y="1325880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lp0-text"/>
          <p:cNvSpPr txBox="1"/>
          <p:nvPr/>
        </p:nvSpPr>
        <p:spPr>
          <a:xfrm>
            <a:off x="621792" y="13258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1. World advances 5 min</a:t>
            </a:r>
            <a:endParaRPr lang="en-US" sz="1300" dirty="0"/>
          </a:p>
        </p:txBody>
      </p:sp>
      <p:sp>
        <p:nvSpPr>
          <p:cNvPr id="5" name="lpa0"/>
          <p:cNvSpPr/>
          <p:nvPr/>
        </p:nvSpPr>
        <p:spPr>
          <a:xfrm>
            <a:off x="2651760" y="1965960"/>
            <a:ext cx="914" cy="164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lp1-box"/>
          <p:cNvSpPr/>
          <p:nvPr/>
        </p:nvSpPr>
        <p:spPr>
          <a:xfrm>
            <a:off x="548640" y="2130552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lp1-text"/>
          <p:cNvSpPr txBox="1"/>
          <p:nvPr/>
        </p:nvSpPr>
        <p:spPr>
          <a:xfrm>
            <a:off x="621792" y="2130552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2. Record ingested (minimised)</a:t>
            </a:r>
            <a:endParaRPr lang="en-US" sz="1300" dirty="0"/>
          </a:p>
        </p:txBody>
      </p:sp>
      <p:sp>
        <p:nvSpPr>
          <p:cNvPr id="8" name="lpa1"/>
          <p:cNvSpPr/>
          <p:nvPr/>
        </p:nvSpPr>
        <p:spPr>
          <a:xfrm>
            <a:off x="2651760" y="2770632"/>
            <a:ext cx="914" cy="164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lp2-box"/>
          <p:cNvSpPr/>
          <p:nvPr/>
        </p:nvSpPr>
        <p:spPr>
          <a:xfrm>
            <a:off x="548640" y="2935224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lp2-text"/>
          <p:cNvSpPr txBox="1"/>
          <p:nvPr/>
        </p:nvSpPr>
        <p:spPr>
          <a:xfrm>
            <a:off x="621792" y="2935224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3. Twin syncs + recalibrates</a:t>
            </a:r>
            <a:endParaRPr lang="en-US" sz="1300" dirty="0"/>
          </a:p>
        </p:txBody>
      </p:sp>
      <p:sp>
        <p:nvSpPr>
          <p:cNvPr id="11" name="lpa2"/>
          <p:cNvSpPr/>
          <p:nvPr/>
        </p:nvSpPr>
        <p:spPr>
          <a:xfrm>
            <a:off x="2651760" y="3575304"/>
            <a:ext cx="914" cy="164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lp3-box"/>
          <p:cNvSpPr/>
          <p:nvPr/>
        </p:nvSpPr>
        <p:spPr>
          <a:xfrm>
            <a:off x="548640" y="3739896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lp3-text"/>
          <p:cNvSpPr txBox="1"/>
          <p:nvPr/>
        </p:nvSpPr>
        <p:spPr>
          <a:xfrm>
            <a:off x="621792" y="3739896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4. Prediction + explanation</a:t>
            </a:r>
            <a:endParaRPr lang="en-US" sz="1300" dirty="0"/>
          </a:p>
        </p:txBody>
      </p:sp>
      <p:sp>
        <p:nvSpPr>
          <p:cNvPr id="14" name="lpa3"/>
          <p:cNvSpPr/>
          <p:nvPr/>
        </p:nvSpPr>
        <p:spPr>
          <a:xfrm>
            <a:off x="2651760" y="4379976"/>
            <a:ext cx="914" cy="164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lp4-box"/>
          <p:cNvSpPr/>
          <p:nvPr/>
        </p:nvSpPr>
        <p:spPr>
          <a:xfrm>
            <a:off x="548640" y="4544568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lp4-text"/>
          <p:cNvSpPr txBox="1"/>
          <p:nvPr/>
        </p:nvSpPr>
        <p:spPr>
          <a:xfrm>
            <a:off x="621792" y="4544568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5. Notifications (caps, safety)</a:t>
            </a:r>
            <a:endParaRPr lang="en-US" sz="1300" dirty="0"/>
          </a:p>
        </p:txBody>
      </p:sp>
      <p:sp>
        <p:nvSpPr>
          <p:cNvPr id="17" name="lpa4"/>
          <p:cNvSpPr/>
          <p:nvPr/>
        </p:nvSpPr>
        <p:spPr>
          <a:xfrm>
            <a:off x="2651760" y="5184648"/>
            <a:ext cx="914" cy="16459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lp5-box"/>
          <p:cNvSpPr/>
          <p:nvPr/>
        </p:nvSpPr>
        <p:spPr>
          <a:xfrm>
            <a:off x="548640" y="5349240"/>
            <a:ext cx="4206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lp5-text"/>
          <p:cNvSpPr txBox="1"/>
          <p:nvPr/>
        </p:nvSpPr>
        <p:spPr>
          <a:xfrm>
            <a:off x="621792" y="534924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6. Push via WebSocket</a:t>
            </a:r>
            <a:endParaRPr lang="en-US" sz="1300" dirty="0"/>
          </a:p>
        </p:txBody>
      </p:sp>
      <p:sp>
        <p:nvSpPr>
          <p:cNvPr id="20" name="st0-box"/>
          <p:cNvSpPr/>
          <p:nvPr/>
        </p:nvSpPr>
        <p:spPr>
          <a:xfrm>
            <a:off x="5394960" y="146304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st0-text"/>
          <p:cNvSpPr txBox="1"/>
          <p:nvPr/>
        </p:nvSpPr>
        <p:spPr>
          <a:xfrm>
            <a:off x="5468112" y="14630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NOT_ENROLLED</a:t>
            </a:r>
            <a:endParaRPr lang="en-US" sz="1200" dirty="0"/>
          </a:p>
        </p:txBody>
      </p:sp>
      <p:sp>
        <p:nvSpPr>
          <p:cNvPr id="22" name="st1-box"/>
          <p:cNvSpPr/>
          <p:nvPr/>
        </p:nvSpPr>
        <p:spPr>
          <a:xfrm>
            <a:off x="7589520" y="146304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st1-text"/>
          <p:cNvSpPr txBox="1"/>
          <p:nvPr/>
        </p:nvSpPr>
        <p:spPr>
          <a:xfrm>
            <a:off x="7662672" y="14630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INVITED</a:t>
            </a:r>
            <a:endParaRPr lang="en-US" sz="1200" dirty="0"/>
          </a:p>
        </p:txBody>
      </p:sp>
      <p:sp>
        <p:nvSpPr>
          <p:cNvPr id="24" name="st2-box"/>
          <p:cNvSpPr/>
          <p:nvPr/>
        </p:nvSpPr>
        <p:spPr>
          <a:xfrm>
            <a:off x="9784080" y="146304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st2-text"/>
          <p:cNvSpPr txBox="1"/>
          <p:nvPr/>
        </p:nvSpPr>
        <p:spPr>
          <a:xfrm>
            <a:off x="9857232" y="146304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CONSENT_PENDING</a:t>
            </a:r>
            <a:endParaRPr lang="en-US" sz="1200" dirty="0"/>
          </a:p>
        </p:txBody>
      </p:sp>
      <p:sp>
        <p:nvSpPr>
          <p:cNvPr id="26" name="st3-box"/>
          <p:cNvSpPr/>
          <p:nvPr/>
        </p:nvSpPr>
        <p:spPr>
          <a:xfrm>
            <a:off x="9784080" y="301752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st3-text"/>
          <p:cNvSpPr txBox="1"/>
          <p:nvPr/>
        </p:nvSpPr>
        <p:spPr>
          <a:xfrm>
            <a:off x="9857232" y="30175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ACTIVE</a:t>
            </a:r>
            <a:endParaRPr lang="en-US" sz="1200" dirty="0"/>
          </a:p>
        </p:txBody>
      </p:sp>
      <p:sp>
        <p:nvSpPr>
          <p:cNvPr id="28" name="st4-box"/>
          <p:cNvSpPr/>
          <p:nvPr/>
        </p:nvSpPr>
        <p:spPr>
          <a:xfrm>
            <a:off x="7589520" y="301752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st4-text"/>
          <p:cNvSpPr txBox="1"/>
          <p:nvPr/>
        </p:nvSpPr>
        <p:spPr>
          <a:xfrm>
            <a:off x="7662672" y="301752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PAUSED</a:t>
            </a:r>
            <a:endParaRPr lang="en-US" sz="1200" dirty="0"/>
          </a:p>
        </p:txBody>
      </p:sp>
      <p:sp>
        <p:nvSpPr>
          <p:cNvPr id="30" name="st5-box"/>
          <p:cNvSpPr/>
          <p:nvPr/>
        </p:nvSpPr>
        <p:spPr>
          <a:xfrm>
            <a:off x="7589520" y="4572000"/>
            <a:ext cx="182880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t5-text"/>
          <p:cNvSpPr txBox="1"/>
          <p:nvPr/>
        </p:nvSpPr>
        <p:spPr>
          <a:xfrm>
            <a:off x="7662672" y="4572000"/>
            <a:ext cx="16824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REVOKED</a:t>
            </a:r>
            <a:endParaRPr lang="en-US" sz="1200" dirty="0"/>
          </a:p>
        </p:txBody>
      </p:sp>
      <p:sp>
        <p:nvSpPr>
          <p:cNvPr id="32" name="sa1"/>
          <p:cNvSpPr/>
          <p:nvPr/>
        </p:nvSpPr>
        <p:spPr>
          <a:xfrm>
            <a:off x="7223760" y="1847088"/>
            <a:ext cx="3657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sa2"/>
          <p:cNvSpPr/>
          <p:nvPr/>
        </p:nvSpPr>
        <p:spPr>
          <a:xfrm>
            <a:off x="9418320" y="1847088"/>
            <a:ext cx="3657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a3"/>
          <p:cNvSpPr/>
          <p:nvPr/>
        </p:nvSpPr>
        <p:spPr>
          <a:xfrm>
            <a:off x="10698480" y="2240280"/>
            <a:ext cx="914" cy="7772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sa4"/>
          <p:cNvSpPr/>
          <p:nvPr/>
        </p:nvSpPr>
        <p:spPr>
          <a:xfrm flipH="1">
            <a:off x="9418320" y="3401568"/>
            <a:ext cx="36576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sa5"/>
          <p:cNvSpPr/>
          <p:nvPr/>
        </p:nvSpPr>
        <p:spPr>
          <a:xfrm>
            <a:off x="8503920" y="3794760"/>
            <a:ext cx="914" cy="7772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7" name="lb1"/>
          <p:cNvSpPr txBox="1"/>
          <p:nvPr/>
        </p:nvSpPr>
        <p:spPr>
          <a:xfrm>
            <a:off x="539496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doctor: enrol, configure, launch</a:t>
            </a:r>
            <a:endParaRPr lang="en-US" sz="1100" dirty="0"/>
          </a:p>
        </p:txBody>
      </p:sp>
      <p:sp>
        <p:nvSpPr>
          <p:cNvPr id="38" name="lb2"/>
          <p:cNvSpPr txBox="1"/>
          <p:nvPr/>
        </p:nvSpPr>
        <p:spPr>
          <a:xfrm>
            <a:off x="758952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patient: OTP verified</a:t>
            </a:r>
            <a:endParaRPr lang="en-US" sz="1100" dirty="0"/>
          </a:p>
        </p:txBody>
      </p:sp>
      <p:sp>
        <p:nvSpPr>
          <p:cNvPr id="39" name="lb3"/>
          <p:cNvSpPr txBox="1"/>
          <p:nvPr/>
        </p:nvSpPr>
        <p:spPr>
          <a:xfrm>
            <a:off x="978408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patient: consent</a:t>
            </a:r>
            <a:endParaRPr lang="en-US" sz="1100" dirty="0"/>
          </a:p>
        </p:txBody>
      </p:sp>
      <p:sp>
        <p:nvSpPr>
          <p:cNvPr id="40" name="lb4"/>
          <p:cNvSpPr txBox="1"/>
          <p:nvPr/>
        </p:nvSpPr>
        <p:spPr>
          <a:xfrm>
            <a:off x="539496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doctor: pause / resume</a:t>
            </a:r>
            <a:endParaRPr lang="en-US" sz="1100" dirty="0"/>
          </a:p>
        </p:txBody>
      </p:sp>
      <p:sp>
        <p:nvSpPr>
          <p:cNvPr id="41" name="lb5"/>
          <p:cNvSpPr txBox="1"/>
          <p:nvPr/>
        </p:nvSpPr>
        <p:spPr>
          <a:xfrm>
            <a:off x="539496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doctor revoke or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patient withdraw</a:t>
            </a:r>
            <a:endParaRPr lang="en-US" sz="1100" dirty="0"/>
          </a:p>
        </p:txBody>
      </p:sp>
      <p:sp>
        <p:nvSpPr>
          <p:cNvPr id="42" name="st-note"/>
          <p:cNvSpPr txBox="1"/>
          <p:nvPr/>
        </p:nvSpPr>
        <p:spPr>
          <a:xfrm>
            <a:off x="5394960" y="55321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Any non-terminal state → REVOKED; REVOKED → INVITED re-launches. Every transition is audited. No twin data reaches the patient app unless ACTIVE.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ar Twin">
  <a:themeElements>
    <a:clrScheme name="Sugar Twin">
      <a:dk1>
        <a:srgbClr val="1B2A33"/>
      </a:dk1>
      <a:lt1>
        <a:srgbClr val="FFFFFF"/>
      </a:lt1>
      <a:dk2>
        <a:srgbClr val="0B4F5C"/>
      </a:dk2>
      <a:lt2>
        <a:srgbClr val="EAF4F3"/>
      </a:lt2>
      <a:accent1>
        <a:srgbClr val="0B7A75"/>
      </a:accent1>
      <a:accent2>
        <a:srgbClr val="F2A541"/>
      </a:accent2>
      <a:accent3>
        <a:srgbClr val="D1495B"/>
      </a:accent3>
      <a:accent4>
        <a:srgbClr val="3E8E41"/>
      </a:accent4>
      <a:accent5>
        <a:srgbClr val="5B6C8F"/>
      </a:accent5>
      <a:accent6>
        <a:srgbClr val="8E6CB0"/>
      </a:accent6>
      <a:hlink>
        <a:srgbClr val="0B7A75"/>
      </a:hlink>
      <a:folHlink>
        <a:srgbClr val="5B6C8F"/>
      </a:folHlink>
    </a:clrScheme>
    <a:fontScheme name="Sugar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Twin: architecture diagram</dc:title>
  <dc:subject>PptxGenJS Presentation</dc:subject>
  <dc:creator>PptxGenJS</dc:creator>
  <cp:lastModifiedBy>PptxGenJS</cp:lastModifiedBy>
  <cp:revision>1</cp:revision>
  <dcterms:created xsi:type="dcterms:W3CDTF">2026-10-23T16:54:22Z</dcterms:created>
  <dcterms:modified xsi:type="dcterms:W3CDTF">2026-10-23T16:54:22Z</dcterms:modified>
</cp:coreProperties>
</file>